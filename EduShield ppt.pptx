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78" r:id="rId7"/>
    <p:sldId id="279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0606D-5AE3-434E-A926-014913F4A73B}" v="1" dt="2026-07-16T05:21:18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ushkumar VS" userId="75410c03d8d15879" providerId="LiveId" clId="{0E535E5E-59F7-446D-B620-1A6E59F5EB71}"/>
    <pc:docChg chg="undo custSel modSld">
      <pc:chgData name="Danushkumar VS" userId="75410c03d8d15879" providerId="LiveId" clId="{0E535E5E-59F7-446D-B620-1A6E59F5EB71}" dt="2026-07-16T05:22:07.373" v="220" actId="5793"/>
      <pc:docMkLst>
        <pc:docMk/>
      </pc:docMkLst>
      <pc:sldChg chg="addSp delSp modSp mod">
        <pc:chgData name="Danushkumar VS" userId="75410c03d8d15879" providerId="LiveId" clId="{0E535E5E-59F7-446D-B620-1A6E59F5EB71}" dt="2026-07-10T09:09:07.975" v="189" actId="1076"/>
        <pc:sldMkLst>
          <pc:docMk/>
          <pc:sldMk cId="0" sldId="257"/>
        </pc:sldMkLst>
        <pc:graphicFrameChg chg="add mod modGraphic">
          <ac:chgData name="Danushkumar VS" userId="75410c03d8d15879" providerId="LiveId" clId="{0E535E5E-59F7-446D-B620-1A6E59F5EB71}" dt="2026-07-10T09:09:07.975" v="189" actId="1076"/>
          <ac:graphicFrameMkLst>
            <pc:docMk/>
            <pc:sldMk cId="0" sldId="257"/>
            <ac:graphicFrameMk id="2" creationId="{DEAABAED-2CA0-59EC-F9ED-65C3FAFDD6C2}"/>
          </ac:graphicFrameMkLst>
        </pc:graphicFrameChg>
      </pc:sldChg>
      <pc:sldChg chg="modSp mod">
        <pc:chgData name="Danushkumar VS" userId="75410c03d8d15879" providerId="LiveId" clId="{0E535E5E-59F7-446D-B620-1A6E59F5EB71}" dt="2026-07-16T05:21:10.042" v="198" actId="12"/>
        <pc:sldMkLst>
          <pc:docMk/>
          <pc:sldMk cId="0" sldId="258"/>
        </pc:sldMkLst>
        <pc:spChg chg="mod">
          <ac:chgData name="Danushkumar VS" userId="75410c03d8d15879" providerId="LiveId" clId="{0E535E5E-59F7-446D-B620-1A6E59F5EB71}" dt="2026-07-16T05:21:10.042" v="198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anushkumar VS" userId="75410c03d8d15879" providerId="LiveId" clId="{0E535E5E-59F7-446D-B620-1A6E59F5EB71}" dt="2026-07-16T05:21:45.837" v="203" actId="5793"/>
        <pc:sldMkLst>
          <pc:docMk/>
          <pc:sldMk cId="0" sldId="259"/>
        </pc:sldMkLst>
        <pc:spChg chg="mod">
          <ac:chgData name="Danushkumar VS" userId="75410c03d8d15879" providerId="LiveId" clId="{0E535E5E-59F7-446D-B620-1A6E59F5EB71}" dt="2026-07-16T05:21:45.837" v="203" actId="5793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Danushkumar VS" userId="75410c03d8d15879" providerId="LiveId" clId="{0E535E5E-59F7-446D-B620-1A6E59F5EB71}" dt="2026-07-16T05:22:07.373" v="220" actId="5793"/>
        <pc:sldMkLst>
          <pc:docMk/>
          <pc:sldMk cId="0" sldId="279"/>
        </pc:sldMkLst>
        <pc:spChg chg="mod">
          <ac:chgData name="Danushkumar VS" userId="75410c03d8d15879" providerId="LiveId" clId="{0E535E5E-59F7-446D-B620-1A6E59F5EB71}" dt="2026-07-10T09:01:21.173" v="2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Danushkumar VS" userId="75410c03d8d15879" providerId="LiveId" clId="{0E535E5E-59F7-446D-B620-1A6E59F5EB71}" dt="2026-07-16T05:22:07.373" v="220" actId="5793"/>
          <ac:spMkLst>
            <pc:docMk/>
            <pc:sldMk cId="0" sldId="27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7B837-C5AE-4F04-BCDA-F21F0BA70B3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B8C9-8C0C-4DB8-95B2-8BCA96937C7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7828A-6D6B-4C46-8ABE-D051A08C2DE1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93438-67B8-4262-B2F1-9984AFF131E1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4ADA-6AC7-4379-AE91-F3398FF045BE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563E-B5DC-431B-B4D0-C940763D0DE6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2842F-AC22-4682-AAA4-E46A164971AD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C9F1-D255-40FF-A808-449CB3C333C9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65F4-9D49-466F-B5D3-3E5BE6953EEA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0766-6C17-40F5-BC3D-D541FFE859D3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9714A-0EA7-43CF-A789-B500D515588B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873E0-F0DC-47B8-97FD-A28116D832F0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BFDF-F63D-4B6B-9C65-D06619F1DDBE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7372A-8801-419B-B26E-3CAAF3336438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13B45-0786-488C-9F83-DB626DC1C02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7258" y="3174387"/>
            <a:ext cx="9826171" cy="1658869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IN" sz="11200" b="1" dirty="0"/>
              <a:t>Course name :    </a:t>
            </a:r>
            <a:r>
              <a:rPr lang="en-US" sz="11200" b="1" dirty="0"/>
              <a:t> </a:t>
            </a:r>
            <a:r>
              <a:rPr lang="en-IN" altLang="en-US" sz="11200" b="1" dirty="0"/>
              <a:t>Data Science</a:t>
            </a:r>
          </a:p>
          <a:p>
            <a:pPr lvl="0">
              <a:lnSpc>
                <a:spcPct val="170000"/>
              </a:lnSpc>
            </a:pPr>
            <a:r>
              <a:rPr lang="en-IN" sz="11200" b="1" dirty="0">
                <a:sym typeface="+mn-ea"/>
              </a:rPr>
              <a:t>Course code :      </a:t>
            </a:r>
            <a:r>
              <a:rPr lang="en-US" sz="11200" b="1" dirty="0">
                <a:sym typeface="+mn-ea"/>
              </a:rPr>
              <a:t> </a:t>
            </a:r>
            <a:r>
              <a:rPr lang="en-IN" altLang="en-US" sz="11200" b="1" dirty="0">
                <a:sym typeface="+mn-ea"/>
              </a:rPr>
              <a:t>U23AD491</a:t>
            </a:r>
            <a:endParaRPr lang="en-IN" altLang="en-US" sz="11200" b="1" dirty="0"/>
          </a:p>
          <a:p>
            <a:pPr lvl="0"/>
            <a:endParaRPr lang="en-IN" b="1" dirty="0"/>
          </a:p>
          <a:p>
            <a:r>
              <a:rPr lang="en-US" sz="9335" b="1" dirty="0">
                <a:solidFill>
                  <a:srgbClr val="4E18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  :  Student Dropout Prediction System</a:t>
            </a:r>
          </a:p>
          <a:p>
            <a:r>
              <a:rPr lang="en-US" sz="9335" b="1" kern="1200" dirty="0">
                <a:solidFill>
                  <a:srgbClr val="4E18E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endParaRPr lang="en-IN" b="1" dirty="0">
              <a:solidFill>
                <a:srgbClr val="4E18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4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1" y="459763"/>
            <a:ext cx="9173028" cy="1141049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32642" y="2367870"/>
            <a:ext cx="8274050" cy="4603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Department of </a:t>
            </a:r>
            <a:r>
              <a:rPr lang="en-GB" alt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Computer Science and</a:t>
            </a: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  Engineering</a:t>
            </a:r>
            <a:endParaRPr lang="en-US" alt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372" y="169477"/>
            <a:ext cx="9173028" cy="1141049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AABAED-2CA0-59EC-F9ED-65C3FAFDD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062891"/>
              </p:ext>
            </p:extLst>
          </p:nvPr>
        </p:nvGraphicFramePr>
        <p:xfrm>
          <a:off x="1490472" y="1407645"/>
          <a:ext cx="8787383" cy="4851585"/>
        </p:xfrm>
        <a:graphic>
          <a:graphicData uri="http://schemas.openxmlformats.org/drawingml/2006/table">
            <a:tbl>
              <a:tblPr/>
              <a:tblGrid>
                <a:gridCol w="4006267">
                  <a:extLst>
                    <a:ext uri="{9D8B030D-6E8A-4147-A177-3AD203B41FA5}">
                      <a16:colId xmlns:a16="http://schemas.microsoft.com/office/drawing/2014/main" val="4058844219"/>
                    </a:ext>
                  </a:extLst>
                </a:gridCol>
                <a:gridCol w="328115">
                  <a:extLst>
                    <a:ext uri="{9D8B030D-6E8A-4147-A177-3AD203B41FA5}">
                      <a16:colId xmlns:a16="http://schemas.microsoft.com/office/drawing/2014/main" val="2543553762"/>
                    </a:ext>
                  </a:extLst>
                </a:gridCol>
                <a:gridCol w="4453001">
                  <a:extLst>
                    <a:ext uri="{9D8B030D-6E8A-4147-A177-3AD203B41FA5}">
                      <a16:colId xmlns:a16="http://schemas.microsoft.com/office/drawing/2014/main" val="1305576695"/>
                    </a:ext>
                  </a:extLst>
                </a:gridCol>
              </a:tblGrid>
              <a:tr h="27825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Class / Section / Semester </a:t>
                      </a:r>
                      <a:endParaRPr lang="en-IN" sz="14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4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III CSE / A / V</a:t>
                      </a:r>
                      <a:endParaRPr lang="en-IN" sz="14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5069"/>
                  </a:ext>
                </a:extLst>
              </a:tr>
              <a:tr h="27825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Batch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 2024-2028</a:t>
                      </a: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663465"/>
                  </a:ext>
                </a:extLst>
              </a:tr>
              <a:tr h="73618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Project Review 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 First Review</a:t>
                      </a:r>
                      <a:endParaRPr lang="en-IN" sz="1600" dirty="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420351"/>
                  </a:ext>
                </a:extLst>
              </a:tr>
              <a:tr h="27825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                                                 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364082"/>
                  </a:ext>
                </a:extLst>
              </a:tr>
              <a:tr h="27825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Date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64419"/>
                  </a:ext>
                </a:extLst>
              </a:tr>
              <a:tr h="97282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Faculty I/C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Dr. M. Suriya, M.E., Ph.D., AP/CSE</a:t>
                      </a:r>
                      <a:endParaRPr lang="en-IN" sz="1600" dirty="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063453"/>
                  </a:ext>
                </a:extLst>
              </a:tr>
              <a:tr h="122683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4E18E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Dropout Prediction System</a:t>
                      </a:r>
                      <a:br>
                        <a:rPr lang="en-IN" sz="1600" dirty="0">
                          <a:effectLst/>
                        </a:rPr>
                      </a:b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220843"/>
                  </a:ext>
                </a:extLst>
              </a:tr>
              <a:tr h="72693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Student Name &amp; Reg No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4E18E8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endParaRPr lang="en-IN" sz="160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</a:rPr>
                        <a:t> DANUSHKUMAR VS [722824104040]</a:t>
                      </a:r>
                      <a:endParaRPr lang="en-IN" sz="1600" dirty="0">
                        <a:effectLst/>
                      </a:endParaRPr>
                    </a:p>
                  </a:txBody>
                  <a:tcPr marL="51665" marR="51665" marT="22962" marB="22962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013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54736" y="0"/>
            <a:ext cx="105156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800" b="1" dirty="0">
              <a:latin typeface="Calibri" panose="020F0502020204030204" pitchFamily="34" charset="0"/>
            </a:endParaRPr>
          </a:p>
          <a:p>
            <a:pPr algn="ctr" eaLnBrk="1" hangingPunct="1"/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ctr" eaLnBrk="1" hangingPunct="1"/>
            <a:endParaRPr lang="en-US" altLang="en-US" sz="2000" b="1" dirty="0">
              <a:latin typeface="Calibri" panose="020F0502020204030204" pitchFamily="34" charset="0"/>
            </a:endParaRPr>
          </a:p>
          <a:p>
            <a:pPr algn="ctr" eaLnBrk="1" hangingPunct="1"/>
            <a:endParaRPr lang="en-US" altLang="en-US" sz="1200" dirty="0">
              <a:latin typeface="Calibri" panose="020F0502020204030204" pitchFamily="34" charset="0"/>
            </a:endParaRPr>
          </a:p>
          <a:p>
            <a:pPr algn="ctr" eaLnBrk="1" hangingPunct="1"/>
            <a:endParaRPr lang="en-US" altLang="en-US" sz="1200" dirty="0">
              <a:latin typeface="Calibri" panose="020F050202020403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243586" y="1350819"/>
            <a:ext cx="931025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/>
              <a:t>EduShield</a:t>
            </a:r>
            <a:r>
              <a:rPr lang="en-IN" sz="2000" b="1" dirty="0"/>
              <a:t> – AI-Powered Student Retention Analytics Platform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                                    Student dropout is a major challenge for educational institutions, affecting both student success and institutional performance. </a:t>
            </a:r>
            <a:r>
              <a:rPr lang="en-IN" sz="2000" b="1" dirty="0" err="1"/>
              <a:t>EduShield</a:t>
            </a:r>
            <a:r>
              <a:rPr lang="en-IN" sz="2000" dirty="0"/>
              <a:t> is an AI-powered platform that uses Machine Learning to predict students who are at risk of dropping out by </a:t>
            </a:r>
            <a:r>
              <a:rPr lang="en-IN" sz="2000" dirty="0" err="1"/>
              <a:t>analyzing</a:t>
            </a:r>
            <a:r>
              <a:rPr lang="en-IN" sz="2000" dirty="0"/>
              <a:t> academic, demographic, and financial data. The system follows the complete Data Science process, including data preprocessing, analysis, model training, and prediction.     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                                    The platform compares multiple Machine Learning models to identify the most accurate one and provides real-time dropout risk predictions with confidence scores and recommendations. An interactive dashboard visualizes student insights and dropout trends, helping institutions take timely actions to improve student retention and academic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0460"/>
            <a:ext cx="10515600" cy="708932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/ SCOPE OF SOLUTION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4</a:t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6029" y="1206690"/>
            <a:ext cx="9567334" cy="488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b="1" dirty="0" err="1"/>
              <a:t>EduShield</a:t>
            </a:r>
            <a:r>
              <a:rPr lang="en-IN" sz="1800" dirty="0"/>
              <a:t> is an AI-powered student retention analytics platform that predicts student dropout risk using Machine Learning and provides early intervention insights to educational institutions.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/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Solution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Student Dropout Risk Prediction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Student Data Analysis &amp; Visualization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Student Data Analysis &amp; Visualization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Machine Learning Model Training &amp; Evaluation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Real-Time Risk Prediction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Model Performance Comparison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Personalized Recommendations for At-Risk Students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/>
              <a:t>Interactive Dashboard &amp; Reports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5582" y="317728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460610" y="5781728"/>
            <a:ext cx="625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diagram</a:t>
            </a: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2D29945-509C-58CF-D1A7-304EDD8DC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113" y="1285005"/>
            <a:ext cx="5883150" cy="4054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687" y="283267"/>
            <a:ext cx="10515600" cy="1081290"/>
          </a:xfrm>
        </p:spPr>
        <p:txBody>
          <a:bodyPr>
            <a:normAutofit/>
          </a:bodyPr>
          <a:lstStyle/>
          <a:p>
            <a:pPr algn="ctr"/>
            <a:r>
              <a:rPr lang="en-I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6</a:t>
            </a:fld>
            <a:endParaRPr lang="en-IN"/>
          </a:p>
        </p:txBody>
      </p:sp>
      <p:sp>
        <p:nvSpPr>
          <p:cNvPr id="6" name="Text Placeholder 1"/>
          <p:cNvSpPr txBox="1"/>
          <p:nvPr/>
        </p:nvSpPr>
        <p:spPr bwMode="auto">
          <a:xfrm>
            <a:off x="1752600" y="1476220"/>
            <a:ext cx="86868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800" b="1" dirty="0"/>
              <a:t>Frontend:</a:t>
            </a:r>
            <a:r>
              <a:rPr lang="en-IN" sz="1800" dirty="0"/>
              <a:t> HTML5, CSS3, Bootstrap 5, JavaScript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Backend:</a:t>
            </a:r>
            <a:r>
              <a:rPr lang="en-IN" sz="1800" dirty="0"/>
              <a:t> Python, Flask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Machine Learning:</a:t>
            </a:r>
            <a:r>
              <a:rPr lang="en-IN" sz="1800" dirty="0"/>
              <a:t> Scikit-learn, </a:t>
            </a:r>
            <a:r>
              <a:rPr lang="en-IN" sz="1800" dirty="0" err="1"/>
              <a:t>XGBoost</a:t>
            </a:r>
            <a:r>
              <a:rPr lang="en-I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 Processing:</a:t>
            </a:r>
            <a:r>
              <a:rPr lang="en-IN" sz="1800" dirty="0"/>
              <a:t> Pandas, NumPy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Visualization:</a:t>
            </a:r>
            <a:r>
              <a:rPr lang="en-IN" sz="1800" dirty="0"/>
              <a:t> </a:t>
            </a:r>
            <a:r>
              <a:rPr lang="en-IN" sz="1800" dirty="0" err="1"/>
              <a:t>Plotly</a:t>
            </a:r>
            <a:r>
              <a:rPr lang="en-IN" sz="1800" dirty="0"/>
              <a:t>, Matplotlib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Database:</a:t>
            </a:r>
            <a:r>
              <a:rPr lang="en-IN" sz="1800" dirty="0"/>
              <a:t> SQLite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Tools:</a:t>
            </a:r>
            <a:r>
              <a:rPr lang="en-IN" sz="1800" dirty="0"/>
              <a:t> VS Code, Jupyter Notebook, Git &amp; GitHub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Dataset:</a:t>
            </a:r>
            <a:r>
              <a:rPr lang="en-IN" sz="1800" dirty="0"/>
              <a:t> Kaggle – Student's Dropout and Academic Success Dataset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5313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User Authentication: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Secure Admin &amp; User Login with Session Management. </a:t>
            </a:r>
          </a:p>
          <a:p>
            <a:r>
              <a:rPr lang="en-IN" b="1" dirty="0"/>
              <a:t>Dataset Management: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Load, Preprocess, and Validate Student Dataset. </a:t>
            </a:r>
          </a:p>
          <a:p>
            <a:r>
              <a:rPr lang="en-IN" b="1" dirty="0"/>
              <a:t>Machine Learning Module: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Train, Evaluate, and Select the Best ML Model. </a:t>
            </a:r>
          </a:p>
          <a:p>
            <a:r>
              <a:rPr lang="en-IN" b="1" dirty="0"/>
              <a:t>Student Risk Prediction: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Predict Dropout Risk with Confidence Score. </a:t>
            </a:r>
          </a:p>
          <a:p>
            <a:r>
              <a:rPr lang="en-IN" b="1" dirty="0"/>
              <a:t>Dashboard &amp; Analytics: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Display Student Statistics and Interactive Charts. </a:t>
            </a:r>
          </a:p>
          <a:p>
            <a:r>
              <a:rPr lang="en-IN" b="1" dirty="0"/>
              <a:t>Recommendation Module: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Provide Personalized Academic Recommendations. </a:t>
            </a:r>
          </a:p>
          <a:p>
            <a:r>
              <a:rPr lang="en-IN" b="1" dirty="0"/>
              <a:t>Prediction History: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Store, View, and Export Prediction Records. </a:t>
            </a:r>
          </a:p>
          <a:p>
            <a:r>
              <a:rPr lang="en-IN" b="1" dirty="0"/>
              <a:t>Web Interface: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Responsive Flask-Based User Interface.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93438-67B8-4262-B2F1-9984AFF131E1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5756" y="4103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880" y="1825625"/>
            <a:ext cx="938784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 err="1"/>
              <a:t>EduShield</a:t>
            </a:r>
            <a:r>
              <a:rPr lang="en-IN" sz="1800" b="1" dirty="0"/>
              <a:t>: AI-Powered Student Retention Analytics Platform</a:t>
            </a:r>
            <a:r>
              <a:rPr lang="en-IN" sz="1800" dirty="0"/>
              <a:t> provides an effective solution for identifying students who are at risk of dropping out using Machine Learning techniques. By </a:t>
            </a:r>
            <a:r>
              <a:rPr lang="en-IN" sz="1800" dirty="0" err="1"/>
              <a:t>analyzing</a:t>
            </a:r>
            <a:r>
              <a:rPr lang="en-IN" sz="1800" dirty="0"/>
              <a:t> academic, demographic, and financial data, the system delivers accurate predictions, visual insights, and personalized recommendations. The interactive dashboard and real-time prediction module support educational institutions in making data-driven decisions and implementing timely interventions. Overall, </a:t>
            </a:r>
            <a:r>
              <a:rPr lang="en-IN" sz="1800" dirty="0" err="1"/>
              <a:t>EduShield</a:t>
            </a:r>
            <a:r>
              <a:rPr lang="en-IN" sz="1800" dirty="0"/>
              <a:t> helps improve student retention, enhances academic success, and demonstrates the practical application of Data Science and Machine Learning in the education sector.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01-04-2025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13B45-0786-488C-9F83-DB626DC1C02A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558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 Abstract   </vt:lpstr>
      <vt:lpstr>CONCEPT / SCOPE OF SOLUTION</vt:lpstr>
      <vt:lpstr>PROPOSED METHOD</vt:lpstr>
      <vt:lpstr>TECHNOLOGY USED</vt:lpstr>
      <vt:lpstr>PROJECT MODULES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Danushkumar VS</cp:lastModifiedBy>
  <cp:revision>26</cp:revision>
  <dcterms:created xsi:type="dcterms:W3CDTF">2025-03-03T05:54:00Z</dcterms:created>
  <dcterms:modified xsi:type="dcterms:W3CDTF">2026-07-16T05:22:09Z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72C6BE389C92494E9E8DC7CA84091305_13</vt:lpwstr>
  </property>
</Properties>
</file>